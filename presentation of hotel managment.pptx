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7" r:id="rId2"/>
    <p:sldId id="268" r:id="rId3"/>
    <p:sldId id="258" r:id="rId4"/>
    <p:sldId id="259" r:id="rId5"/>
    <p:sldId id="260" r:id="rId6"/>
    <p:sldId id="261" r:id="rId7"/>
    <p:sldId id="270" r:id="rId8"/>
    <p:sldId id="271" r:id="rId9"/>
    <p:sldId id="262" r:id="rId10"/>
    <p:sldId id="263" r:id="rId11"/>
    <p:sldId id="264" r:id="rId12"/>
    <p:sldId id="265" r:id="rId13"/>
    <p:sldId id="26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149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2333595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2512363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8DB5E3-2B8E-4C66-A289-BFCCAAE4CB5D}" type="datetimeFigureOut">
              <a:rPr lang="en-IN" smtClean="0"/>
              <a:t>23-04-2026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4139401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8DB5E3-2B8E-4C66-A289-BFCCAAE4CB5D}" type="datetimeFigureOut">
              <a:rPr lang="en-IN" smtClean="0"/>
              <a:t>23-04-2026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2988922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8DB5E3-2B8E-4C66-A289-BFCCAAE4CB5D}" type="datetimeFigureOut">
              <a:rPr lang="en-IN" smtClean="0"/>
              <a:t>23-04-2026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412738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8DB5E3-2B8E-4C66-A289-BFCCAAE4CB5D}" type="datetimeFigureOut">
              <a:rPr lang="en-IN" smtClean="0"/>
              <a:t>23-04-2026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2197371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8DB5E3-2B8E-4C66-A289-BFCCAAE4CB5D}" type="datetimeFigureOut">
              <a:rPr lang="en-IN" smtClean="0"/>
              <a:t>23-04-2026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1488206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8DB5E3-2B8E-4C66-A289-BFCCAAE4CB5D}" type="datetimeFigureOut">
              <a:rPr lang="en-IN" smtClean="0"/>
              <a:t>23-04-2026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2293838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E48DB5E3-2B8E-4C66-A289-BFCCAAE4CB5D}" type="datetimeFigureOut">
              <a:rPr lang="en-IN" smtClean="0"/>
              <a:t>23-04-2026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2449355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1428788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2332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3921696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827879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3403877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890783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DB5E3-2B8E-4C66-A289-BFCCAAE4CB5D}" type="datetimeFigureOut">
              <a:rPr lang="en-IN" smtClean="0"/>
              <a:t>23-04-2026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9C5E0-659E-40F9-AF07-3ECA924A8F6B}" type="slidenum">
              <a:rPr lang="en-IN" smtClean="0"/>
              <a:t>‹#›</a:t>
            </a:fld>
            <a:endParaRPr lang="en-IN"/>
          </a:p>
        </p:txBody>
      </p:sp>
    </p:spTree>
    <p:extLst>
      <p:ext uri="{BB962C8B-B14F-4D97-AF65-F5344CB8AC3E}">
        <p14:creationId xmlns:p14="http://schemas.microsoft.com/office/powerpoint/2010/main" val="3869282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48DB5E3-2B8E-4C66-A289-BFCCAAE4CB5D}" type="datetimeFigureOut">
              <a:rPr lang="en-IN" smtClean="0"/>
              <a:t>23-04-2026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F29C5E0-659E-40F9-AF07-3ECA924A8F6B}" type="slidenum">
              <a:rPr lang="en-IN" smtClean="0"/>
              <a:t>‹#›</a:t>
            </a:fld>
            <a:endParaRPr lang="en-IN"/>
          </a:p>
        </p:txBody>
      </p:sp>
    </p:spTree>
    <p:extLst>
      <p:ext uri="{BB962C8B-B14F-4D97-AF65-F5344CB8AC3E}">
        <p14:creationId xmlns:p14="http://schemas.microsoft.com/office/powerpoint/2010/main" val="1984627872"/>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C1B90-90B2-3653-4F57-381AB2250DCD}"/>
              </a:ext>
            </a:extLst>
          </p:cNvPr>
          <p:cNvSpPr>
            <a:spLocks noGrp="1"/>
          </p:cNvSpPr>
          <p:nvPr>
            <p:ph type="title"/>
          </p:nvPr>
        </p:nvSpPr>
        <p:spPr/>
        <p:txBody>
          <a:bodyPr>
            <a:normAutofit/>
          </a:bodyPr>
          <a:lstStyle/>
          <a:p>
            <a:r>
              <a:rPr lang="en-US" dirty="0"/>
              <a:t>              </a:t>
            </a:r>
            <a:r>
              <a:rPr lang="en-IN" dirty="0"/>
              <a:t>HOTEL MANAGEMENT SYSTEM</a:t>
            </a:r>
          </a:p>
        </p:txBody>
      </p:sp>
    </p:spTree>
    <p:extLst>
      <p:ext uri="{BB962C8B-B14F-4D97-AF65-F5344CB8AC3E}">
        <p14:creationId xmlns:p14="http://schemas.microsoft.com/office/powerpoint/2010/main" val="188753941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7C9BF18-A900-8349-AAE3-CFC3125291C3}"/>
              </a:ext>
            </a:extLst>
          </p:cNvPr>
          <p:cNvGraphicFramePr>
            <a:graphicFrameLocks noGrp="1"/>
          </p:cNvGraphicFramePr>
          <p:nvPr>
            <p:extLst>
              <p:ext uri="{D42A27DB-BD31-4B8C-83A1-F6EECF244321}">
                <p14:modId xmlns:p14="http://schemas.microsoft.com/office/powerpoint/2010/main" val="1786676698"/>
              </p:ext>
            </p:extLst>
          </p:nvPr>
        </p:nvGraphicFramePr>
        <p:xfrm>
          <a:off x="1801368" y="562186"/>
          <a:ext cx="8194039" cy="5009986"/>
        </p:xfrm>
        <a:graphic>
          <a:graphicData uri="http://schemas.openxmlformats.org/drawingml/2006/table">
            <a:tbl>
              <a:tblPr firstRow="1" bandRow="1">
                <a:tableStyleId>{5C22544A-7EE6-4342-B048-85BDC9FD1C3A}</a:tableStyleId>
              </a:tblPr>
              <a:tblGrid>
                <a:gridCol w="2775373">
                  <a:extLst>
                    <a:ext uri="{9D8B030D-6E8A-4147-A177-3AD203B41FA5}">
                      <a16:colId xmlns:a16="http://schemas.microsoft.com/office/drawing/2014/main" val="914352049"/>
                    </a:ext>
                  </a:extLst>
                </a:gridCol>
                <a:gridCol w="2709333">
                  <a:extLst>
                    <a:ext uri="{9D8B030D-6E8A-4147-A177-3AD203B41FA5}">
                      <a16:colId xmlns:a16="http://schemas.microsoft.com/office/drawing/2014/main" val="2938410329"/>
                    </a:ext>
                  </a:extLst>
                </a:gridCol>
                <a:gridCol w="2709333">
                  <a:extLst>
                    <a:ext uri="{9D8B030D-6E8A-4147-A177-3AD203B41FA5}">
                      <a16:colId xmlns:a16="http://schemas.microsoft.com/office/drawing/2014/main" val="962560134"/>
                    </a:ext>
                  </a:extLst>
                </a:gridCol>
              </a:tblGrid>
              <a:tr h="365274">
                <a:tc>
                  <a:txBody>
                    <a:bodyPr/>
                    <a:lstStyle/>
                    <a:p>
                      <a:r>
                        <a:rPr lang="en-US" dirty="0"/>
                        <a:t>s.no</a:t>
                      </a:r>
                      <a:endParaRPr lang="en-IN" dirty="0"/>
                    </a:p>
                  </a:txBody>
                  <a:tcPr/>
                </a:tc>
                <a:tc>
                  <a:txBody>
                    <a:bodyPr/>
                    <a:lstStyle/>
                    <a:p>
                      <a:r>
                        <a:rPr lang="en-US" dirty="0"/>
                        <a:t>name</a:t>
                      </a:r>
                      <a:endParaRPr lang="en-IN" dirty="0"/>
                    </a:p>
                  </a:txBody>
                  <a:tcPr/>
                </a:tc>
                <a:tc>
                  <a:txBody>
                    <a:bodyPr/>
                    <a:lstStyle/>
                    <a:p>
                      <a:r>
                        <a:rPr lang="en-US" dirty="0"/>
                        <a:t>remarks</a:t>
                      </a:r>
                      <a:endParaRPr lang="en-IN" dirty="0"/>
                    </a:p>
                  </a:txBody>
                  <a:tcPr/>
                </a:tc>
                <a:extLst>
                  <a:ext uri="{0D108BD9-81ED-4DB2-BD59-A6C34878D82A}">
                    <a16:rowId xmlns:a16="http://schemas.microsoft.com/office/drawing/2014/main" val="1940532504"/>
                  </a:ext>
                </a:extLst>
              </a:tr>
              <a:tr h="365274">
                <a:tc>
                  <a:txBody>
                    <a:bodyPr/>
                    <a:lstStyle/>
                    <a:p>
                      <a:r>
                        <a:rPr lang="en-US" dirty="0"/>
                        <a:t>1</a:t>
                      </a:r>
                      <a:endParaRPr lang="en-IN" dirty="0"/>
                    </a:p>
                  </a:txBody>
                  <a:tcPr/>
                </a:tc>
                <a:tc>
                  <a:txBody>
                    <a:bodyPr/>
                    <a:lstStyle/>
                    <a:p>
                      <a:r>
                        <a:rPr lang="en-IN" dirty="0"/>
                        <a:t>Introduction </a:t>
                      </a:r>
                    </a:p>
                  </a:txBody>
                  <a:tcPr/>
                </a:tc>
                <a:tc>
                  <a:txBody>
                    <a:bodyPr/>
                    <a:lstStyle/>
                    <a:p>
                      <a:endParaRPr lang="en-IN"/>
                    </a:p>
                  </a:txBody>
                  <a:tcPr/>
                </a:tc>
                <a:extLst>
                  <a:ext uri="{0D108BD9-81ED-4DB2-BD59-A6C34878D82A}">
                    <a16:rowId xmlns:a16="http://schemas.microsoft.com/office/drawing/2014/main" val="1245591071"/>
                  </a:ext>
                </a:extLst>
              </a:tr>
              <a:tr h="630473">
                <a:tc>
                  <a:txBody>
                    <a:bodyPr/>
                    <a:lstStyle/>
                    <a:p>
                      <a:r>
                        <a:rPr lang="en-US" dirty="0"/>
                        <a:t>2</a:t>
                      </a:r>
                      <a:endParaRPr lang="en-IN" dirty="0"/>
                    </a:p>
                  </a:txBody>
                  <a:tcPr/>
                </a:tc>
                <a:tc>
                  <a:txBody>
                    <a:bodyPr/>
                    <a:lstStyle/>
                    <a:p>
                      <a:r>
                        <a:rPr lang="en-US" dirty="0"/>
                        <a:t>Overview of the Hospitality Industry</a:t>
                      </a:r>
                      <a:endParaRPr lang="en-IN" dirty="0"/>
                    </a:p>
                  </a:txBody>
                  <a:tcPr/>
                </a:tc>
                <a:tc>
                  <a:txBody>
                    <a:bodyPr/>
                    <a:lstStyle/>
                    <a:p>
                      <a:endParaRPr lang="en-IN"/>
                    </a:p>
                  </a:txBody>
                  <a:tcPr/>
                </a:tc>
                <a:extLst>
                  <a:ext uri="{0D108BD9-81ED-4DB2-BD59-A6C34878D82A}">
                    <a16:rowId xmlns:a16="http://schemas.microsoft.com/office/drawing/2014/main" val="81732836"/>
                  </a:ext>
                </a:extLst>
              </a:tr>
              <a:tr h="630473">
                <a:tc>
                  <a:txBody>
                    <a:bodyPr/>
                    <a:lstStyle/>
                    <a:p>
                      <a:r>
                        <a:rPr lang="en-US" dirty="0"/>
                        <a:t>3</a:t>
                      </a:r>
                      <a:endParaRPr lang="en-IN" dirty="0"/>
                    </a:p>
                  </a:txBody>
                  <a:tcPr/>
                </a:tc>
                <a:tc>
                  <a:txBody>
                    <a:bodyPr/>
                    <a:lstStyle/>
                    <a:p>
                      <a:r>
                        <a:rPr lang="en-US" dirty="0"/>
                        <a:t>Key Departments in a Hotel</a:t>
                      </a:r>
                      <a:endParaRPr lang="en-IN" dirty="0"/>
                    </a:p>
                  </a:txBody>
                  <a:tcPr/>
                </a:tc>
                <a:tc>
                  <a:txBody>
                    <a:bodyPr/>
                    <a:lstStyle/>
                    <a:p>
                      <a:endParaRPr lang="en-IN"/>
                    </a:p>
                  </a:txBody>
                  <a:tcPr/>
                </a:tc>
                <a:extLst>
                  <a:ext uri="{0D108BD9-81ED-4DB2-BD59-A6C34878D82A}">
                    <a16:rowId xmlns:a16="http://schemas.microsoft.com/office/drawing/2014/main" val="1902043682"/>
                  </a:ext>
                </a:extLst>
              </a:tr>
              <a:tr h="365274">
                <a:tc>
                  <a:txBody>
                    <a:bodyPr/>
                    <a:lstStyle/>
                    <a:p>
                      <a:r>
                        <a:rPr lang="en-US" dirty="0"/>
                        <a:t>4</a:t>
                      </a:r>
                      <a:endParaRPr lang="en-IN" dirty="0"/>
                    </a:p>
                  </a:txBody>
                  <a:tcPr/>
                </a:tc>
                <a:tc>
                  <a:txBody>
                    <a:bodyPr/>
                    <a:lstStyle/>
                    <a:p>
                      <a:r>
                        <a:rPr lang="en-US" dirty="0"/>
                        <a:t>Roles of a Hotel Manager</a:t>
                      </a:r>
                      <a:endParaRPr lang="en-IN" dirty="0"/>
                    </a:p>
                  </a:txBody>
                  <a:tcPr/>
                </a:tc>
                <a:tc>
                  <a:txBody>
                    <a:bodyPr/>
                    <a:lstStyle/>
                    <a:p>
                      <a:endParaRPr lang="en-IN"/>
                    </a:p>
                  </a:txBody>
                  <a:tcPr/>
                </a:tc>
                <a:extLst>
                  <a:ext uri="{0D108BD9-81ED-4DB2-BD59-A6C34878D82A}">
                    <a16:rowId xmlns:a16="http://schemas.microsoft.com/office/drawing/2014/main" val="2079409761"/>
                  </a:ext>
                </a:extLst>
              </a:tr>
              <a:tr h="630473">
                <a:tc>
                  <a:txBody>
                    <a:bodyPr/>
                    <a:lstStyle/>
                    <a:p>
                      <a:r>
                        <a:rPr lang="en-US" dirty="0"/>
                        <a:t>5</a:t>
                      </a:r>
                      <a:endParaRPr lang="en-IN" dirty="0"/>
                    </a:p>
                  </a:txBody>
                  <a:tcPr/>
                </a:tc>
                <a:tc>
                  <a:txBody>
                    <a:bodyPr/>
                    <a:lstStyle/>
                    <a:p>
                      <a:r>
                        <a:rPr lang="en-IN" dirty="0"/>
                        <a:t>Customer Service in Hotels</a:t>
                      </a:r>
                    </a:p>
                  </a:txBody>
                  <a:tcPr/>
                </a:tc>
                <a:tc>
                  <a:txBody>
                    <a:bodyPr/>
                    <a:lstStyle/>
                    <a:p>
                      <a:endParaRPr lang="en-IN"/>
                    </a:p>
                  </a:txBody>
                  <a:tcPr/>
                </a:tc>
                <a:extLst>
                  <a:ext uri="{0D108BD9-81ED-4DB2-BD59-A6C34878D82A}">
                    <a16:rowId xmlns:a16="http://schemas.microsoft.com/office/drawing/2014/main" val="2912877794"/>
                  </a:ext>
                </a:extLst>
              </a:tr>
              <a:tr h="630473">
                <a:tc>
                  <a:txBody>
                    <a:bodyPr/>
                    <a:lstStyle/>
                    <a:p>
                      <a:r>
                        <a:rPr lang="en-US" dirty="0"/>
                        <a:t>6</a:t>
                      </a:r>
                      <a:endParaRPr lang="en-IN" dirty="0"/>
                    </a:p>
                  </a:txBody>
                  <a:tcPr/>
                </a:tc>
                <a:tc>
                  <a:txBody>
                    <a:bodyPr/>
                    <a:lstStyle/>
                    <a:p>
                      <a:r>
                        <a:rPr lang="en-IN" dirty="0"/>
                        <a:t>Technology in Hotel Management</a:t>
                      </a:r>
                    </a:p>
                  </a:txBody>
                  <a:tcPr/>
                </a:tc>
                <a:tc>
                  <a:txBody>
                    <a:bodyPr/>
                    <a:lstStyle/>
                    <a:p>
                      <a:endParaRPr lang="en-IN"/>
                    </a:p>
                  </a:txBody>
                  <a:tcPr/>
                </a:tc>
                <a:extLst>
                  <a:ext uri="{0D108BD9-81ED-4DB2-BD59-A6C34878D82A}">
                    <a16:rowId xmlns:a16="http://schemas.microsoft.com/office/drawing/2014/main" val="3672479198"/>
                  </a:ext>
                </a:extLst>
              </a:tr>
              <a:tr h="630473">
                <a:tc>
                  <a:txBody>
                    <a:bodyPr/>
                    <a:lstStyle/>
                    <a:p>
                      <a:r>
                        <a:rPr lang="en-US" dirty="0"/>
                        <a:t>7</a:t>
                      </a:r>
                      <a:endParaRPr lang="en-IN" dirty="0"/>
                    </a:p>
                  </a:txBody>
                  <a:tcPr/>
                </a:tc>
                <a:tc>
                  <a:txBody>
                    <a:bodyPr/>
                    <a:lstStyle/>
                    <a:p>
                      <a:r>
                        <a:rPr lang="en-IN" b="1" dirty="0"/>
                        <a:t>Challenges in Hotel Management</a:t>
                      </a:r>
                      <a:endParaRPr lang="en-IN" dirty="0"/>
                    </a:p>
                  </a:txBody>
                  <a:tcPr/>
                </a:tc>
                <a:tc>
                  <a:txBody>
                    <a:bodyPr/>
                    <a:lstStyle/>
                    <a:p>
                      <a:endParaRPr lang="en-IN"/>
                    </a:p>
                  </a:txBody>
                  <a:tcPr/>
                </a:tc>
                <a:extLst>
                  <a:ext uri="{0D108BD9-81ED-4DB2-BD59-A6C34878D82A}">
                    <a16:rowId xmlns:a16="http://schemas.microsoft.com/office/drawing/2014/main" val="1329309590"/>
                  </a:ext>
                </a:extLst>
              </a:tr>
              <a:tr h="365274">
                <a:tc>
                  <a:txBody>
                    <a:bodyPr/>
                    <a:lstStyle/>
                    <a:p>
                      <a:r>
                        <a:rPr lang="en-US" dirty="0"/>
                        <a:t>8</a:t>
                      </a:r>
                      <a:endParaRPr lang="en-IN" dirty="0"/>
                    </a:p>
                  </a:txBody>
                  <a:tcPr/>
                </a:tc>
                <a:tc>
                  <a:txBody>
                    <a:bodyPr/>
                    <a:lstStyle/>
                    <a:p>
                      <a:r>
                        <a:rPr lang="en-IN" dirty="0"/>
                        <a:t>Future Trends</a:t>
                      </a:r>
                    </a:p>
                  </a:txBody>
                  <a:tcPr/>
                </a:tc>
                <a:tc>
                  <a:txBody>
                    <a:bodyPr/>
                    <a:lstStyle/>
                    <a:p>
                      <a:endParaRPr lang="en-IN"/>
                    </a:p>
                  </a:txBody>
                  <a:tcPr/>
                </a:tc>
                <a:extLst>
                  <a:ext uri="{0D108BD9-81ED-4DB2-BD59-A6C34878D82A}">
                    <a16:rowId xmlns:a16="http://schemas.microsoft.com/office/drawing/2014/main" val="4018092396"/>
                  </a:ext>
                </a:extLst>
              </a:tr>
              <a:tr h="365274">
                <a:tc>
                  <a:txBody>
                    <a:bodyPr/>
                    <a:lstStyle/>
                    <a:p>
                      <a:r>
                        <a:rPr lang="en-US" dirty="0"/>
                        <a:t>9</a:t>
                      </a:r>
                      <a:endParaRPr lang="en-IN" dirty="0"/>
                    </a:p>
                  </a:txBody>
                  <a:tcPr/>
                </a:tc>
                <a:tc>
                  <a:txBody>
                    <a:bodyPr/>
                    <a:lstStyle/>
                    <a:p>
                      <a:r>
                        <a:rPr lang="en-IN" dirty="0"/>
                        <a:t>Conclusion</a:t>
                      </a:r>
                    </a:p>
                  </a:txBody>
                  <a:tcPr/>
                </a:tc>
                <a:tc>
                  <a:txBody>
                    <a:bodyPr/>
                    <a:lstStyle/>
                    <a:p>
                      <a:endParaRPr lang="en-IN" dirty="0"/>
                    </a:p>
                  </a:txBody>
                  <a:tcPr/>
                </a:tc>
                <a:extLst>
                  <a:ext uri="{0D108BD9-81ED-4DB2-BD59-A6C34878D82A}">
                    <a16:rowId xmlns:a16="http://schemas.microsoft.com/office/drawing/2014/main" val="3294725268"/>
                  </a:ext>
                </a:extLst>
              </a:tr>
            </a:tbl>
          </a:graphicData>
        </a:graphic>
      </p:graphicFrame>
    </p:spTree>
    <p:extLst>
      <p:ext uri="{BB962C8B-B14F-4D97-AF65-F5344CB8AC3E}">
        <p14:creationId xmlns:p14="http://schemas.microsoft.com/office/powerpoint/2010/main" val="1781060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C0992-D881-6B24-9B0C-1944AAD7C5FE}"/>
              </a:ext>
            </a:extLst>
          </p:cNvPr>
          <p:cNvSpPr>
            <a:spLocks noGrp="1"/>
          </p:cNvSpPr>
          <p:nvPr>
            <p:ph type="ctrTitle"/>
          </p:nvPr>
        </p:nvSpPr>
        <p:spPr/>
        <p:txBody>
          <a:bodyPr/>
          <a:lstStyle/>
          <a:p>
            <a:r>
              <a:rPr lang="en-IN" dirty="0"/>
              <a:t>Introduction </a:t>
            </a:r>
          </a:p>
        </p:txBody>
      </p:sp>
      <p:sp>
        <p:nvSpPr>
          <p:cNvPr id="3" name="Subtitle 2">
            <a:extLst>
              <a:ext uri="{FF2B5EF4-FFF2-40B4-BE49-F238E27FC236}">
                <a16:creationId xmlns:a16="http://schemas.microsoft.com/office/drawing/2014/main" id="{8FC6B53F-9CBB-D618-CEEA-E0EE4DBA8D34}"/>
              </a:ext>
            </a:extLst>
          </p:cNvPr>
          <p:cNvSpPr>
            <a:spLocks noGrp="1"/>
          </p:cNvSpPr>
          <p:nvPr>
            <p:ph type="subTitle" idx="1"/>
          </p:nvPr>
        </p:nvSpPr>
        <p:spPr/>
        <p:txBody>
          <a:bodyPr>
            <a:normAutofit fontScale="70000" lnSpcReduction="20000"/>
          </a:bodyPr>
          <a:lstStyle/>
          <a:p>
            <a:r>
              <a:rPr lang="en-US" dirty="0"/>
              <a:t>Hotel management is the process of overseeing the daily operations of a hotel, including guest services, staff management, and facility maintenance. It is an important part of the broader field of Hospitality Management, which focuses on providing excellent service and ensuring customer satisfaction.</a:t>
            </a:r>
          </a:p>
          <a:p>
            <a:r>
              <a:rPr lang="en-US" dirty="0"/>
              <a:t>The hotel industry plays a major role in tourism and the economy by offering accommodation, food, and other services to travelers. Effective hotel management ensures smooth operations, high-quality service, and a positive experience for guests.</a:t>
            </a:r>
          </a:p>
          <a:p>
            <a:endParaRPr lang="en-IN" dirty="0"/>
          </a:p>
        </p:txBody>
      </p:sp>
    </p:spTree>
    <p:extLst>
      <p:ext uri="{BB962C8B-B14F-4D97-AF65-F5344CB8AC3E}">
        <p14:creationId xmlns:p14="http://schemas.microsoft.com/office/powerpoint/2010/main" val="3527912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B85D7-45FD-208A-14F2-3F8C2EE57905}"/>
              </a:ext>
            </a:extLst>
          </p:cNvPr>
          <p:cNvSpPr>
            <a:spLocks noGrp="1"/>
          </p:cNvSpPr>
          <p:nvPr>
            <p:ph type="ctrTitle"/>
          </p:nvPr>
        </p:nvSpPr>
        <p:spPr/>
        <p:txBody>
          <a:bodyPr/>
          <a:lstStyle/>
          <a:p>
            <a:r>
              <a:rPr lang="en-US" dirty="0"/>
              <a:t>Overview of the Hospitality Industry</a:t>
            </a:r>
            <a:endParaRPr lang="en-IN" dirty="0"/>
          </a:p>
        </p:txBody>
      </p:sp>
      <p:sp>
        <p:nvSpPr>
          <p:cNvPr id="3" name="Subtitle 2">
            <a:extLst>
              <a:ext uri="{FF2B5EF4-FFF2-40B4-BE49-F238E27FC236}">
                <a16:creationId xmlns:a16="http://schemas.microsoft.com/office/drawing/2014/main" id="{9CE15693-9F24-0ACF-5B86-8EB9749CF970}"/>
              </a:ext>
            </a:extLst>
          </p:cNvPr>
          <p:cNvSpPr>
            <a:spLocks noGrp="1"/>
          </p:cNvSpPr>
          <p:nvPr>
            <p:ph type="subTitle" idx="1"/>
          </p:nvPr>
        </p:nvSpPr>
        <p:spPr/>
        <p:txBody>
          <a:bodyPr>
            <a:normAutofit fontScale="77500" lnSpcReduction="20000"/>
          </a:bodyPr>
          <a:lstStyle/>
          <a:p>
            <a:r>
              <a:rPr lang="en-US" dirty="0"/>
              <a:t>The Hospitality Management industry is focused on providing services such as accommodation, food, and customer care to guests. It includes hotels, restaurants, resorts, and tourism services.</a:t>
            </a:r>
          </a:p>
          <a:p>
            <a:r>
              <a:rPr lang="en-US" dirty="0"/>
              <a:t>This industry plays an important role in the economy by supporting travel and tourism. Its main aim is to provide comfort, satisfaction, and a pleasant experience to customers through quality service.</a:t>
            </a:r>
          </a:p>
          <a:p>
            <a:endParaRPr lang="en-IN" dirty="0"/>
          </a:p>
        </p:txBody>
      </p:sp>
    </p:spTree>
    <p:extLst>
      <p:ext uri="{BB962C8B-B14F-4D97-AF65-F5344CB8AC3E}">
        <p14:creationId xmlns:p14="http://schemas.microsoft.com/office/powerpoint/2010/main" val="3774147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1AB7E-ABAF-B342-332A-5A538DFDFEE9}"/>
              </a:ext>
            </a:extLst>
          </p:cNvPr>
          <p:cNvSpPr>
            <a:spLocks noGrp="1"/>
          </p:cNvSpPr>
          <p:nvPr>
            <p:ph type="ctrTitle"/>
          </p:nvPr>
        </p:nvSpPr>
        <p:spPr/>
        <p:txBody>
          <a:bodyPr/>
          <a:lstStyle/>
          <a:p>
            <a:r>
              <a:rPr lang="en-US" dirty="0"/>
              <a:t>Key Departments in a Hotel</a:t>
            </a:r>
            <a:endParaRPr lang="en-IN" dirty="0"/>
          </a:p>
        </p:txBody>
      </p:sp>
      <p:sp>
        <p:nvSpPr>
          <p:cNvPr id="3" name="Subtitle 2">
            <a:extLst>
              <a:ext uri="{FF2B5EF4-FFF2-40B4-BE49-F238E27FC236}">
                <a16:creationId xmlns:a16="http://schemas.microsoft.com/office/drawing/2014/main" id="{39117E14-B90A-0E28-C5DD-4C6E97F8C940}"/>
              </a:ext>
            </a:extLst>
          </p:cNvPr>
          <p:cNvSpPr>
            <a:spLocks noGrp="1"/>
          </p:cNvSpPr>
          <p:nvPr>
            <p:ph type="subTitle" idx="1"/>
          </p:nvPr>
        </p:nvSpPr>
        <p:spPr/>
        <p:txBody>
          <a:bodyPr>
            <a:normAutofit fontScale="47500" lnSpcReduction="20000"/>
          </a:bodyPr>
          <a:lstStyle/>
          <a:p>
            <a:r>
              <a:rPr lang="en-US" dirty="0"/>
              <a:t>Hotels are divided into different departments to ensure smooth operations and good guest service. The main departments are:</a:t>
            </a:r>
          </a:p>
          <a:p>
            <a:r>
              <a:rPr lang="en-US" b="1" dirty="0"/>
              <a:t>Front Office</a:t>
            </a:r>
            <a:r>
              <a:rPr lang="en-US" dirty="0"/>
              <a:t> – Handles reservations, check-in and check-out, and guest inquiries. </a:t>
            </a:r>
          </a:p>
          <a:p>
            <a:r>
              <a:rPr lang="en-US" b="1" dirty="0"/>
              <a:t>Housekeeping</a:t>
            </a:r>
            <a:r>
              <a:rPr lang="en-US" dirty="0"/>
              <a:t> – Maintains cleanliness of rooms, hallways, and public areas. </a:t>
            </a:r>
          </a:p>
          <a:p>
            <a:r>
              <a:rPr lang="en-US" b="1" dirty="0"/>
              <a:t>Food &amp; Beverage (F&amp;B)</a:t>
            </a:r>
            <a:r>
              <a:rPr lang="en-US" dirty="0"/>
              <a:t> – Manages restaurants, kitchen, and room service. </a:t>
            </a:r>
          </a:p>
          <a:p>
            <a:r>
              <a:rPr lang="en-US" b="1" dirty="0"/>
              <a:t>Sales &amp; Marketing</a:t>
            </a:r>
            <a:r>
              <a:rPr lang="en-US" dirty="0"/>
              <a:t> – Promotes the hotel and attracts customers. </a:t>
            </a:r>
          </a:p>
          <a:p>
            <a:r>
              <a:rPr lang="en-US" b="1" dirty="0"/>
              <a:t>Human Resources (HR)</a:t>
            </a:r>
            <a:r>
              <a:rPr lang="en-US" dirty="0"/>
              <a:t> – Recruits, trains, and manages staff. </a:t>
            </a:r>
          </a:p>
          <a:p>
            <a:r>
              <a:rPr lang="en-US" b="1" dirty="0"/>
              <a:t>Maintenance/Engineering</a:t>
            </a:r>
            <a:r>
              <a:rPr lang="en-US" dirty="0"/>
              <a:t> – Takes care of repairs and hotel facilities. </a:t>
            </a:r>
          </a:p>
          <a:p>
            <a:endParaRPr lang="en-IN" dirty="0"/>
          </a:p>
        </p:txBody>
      </p:sp>
    </p:spTree>
    <p:extLst>
      <p:ext uri="{BB962C8B-B14F-4D97-AF65-F5344CB8AC3E}">
        <p14:creationId xmlns:p14="http://schemas.microsoft.com/office/powerpoint/2010/main" val="3862208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7CA6F-42CC-9E95-620D-12D705D0E688}"/>
              </a:ext>
            </a:extLst>
          </p:cNvPr>
          <p:cNvSpPr>
            <a:spLocks noGrp="1"/>
          </p:cNvSpPr>
          <p:nvPr>
            <p:ph type="ctrTitle"/>
          </p:nvPr>
        </p:nvSpPr>
        <p:spPr/>
        <p:txBody>
          <a:bodyPr/>
          <a:lstStyle/>
          <a:p>
            <a:r>
              <a:rPr lang="en-US" dirty="0"/>
              <a:t>Roles of a Hotel Manager</a:t>
            </a:r>
            <a:endParaRPr lang="en-IN" dirty="0"/>
          </a:p>
        </p:txBody>
      </p:sp>
      <p:sp>
        <p:nvSpPr>
          <p:cNvPr id="3" name="Subtitle 2">
            <a:extLst>
              <a:ext uri="{FF2B5EF4-FFF2-40B4-BE49-F238E27FC236}">
                <a16:creationId xmlns:a16="http://schemas.microsoft.com/office/drawing/2014/main" id="{D88C34C4-45E1-2BA3-9F0F-005C0B1E1061}"/>
              </a:ext>
            </a:extLst>
          </p:cNvPr>
          <p:cNvSpPr>
            <a:spLocks noGrp="1"/>
          </p:cNvSpPr>
          <p:nvPr>
            <p:ph type="subTitle" idx="1"/>
          </p:nvPr>
        </p:nvSpPr>
        <p:spPr/>
        <p:txBody>
          <a:bodyPr>
            <a:normAutofit fontScale="47500" lnSpcReduction="20000"/>
          </a:bodyPr>
          <a:lstStyle/>
          <a:p>
            <a:r>
              <a:rPr lang="en-US" dirty="0"/>
              <a:t>A hotel manager is responsible for the overall functioning of a hotel. Their main roles include:</a:t>
            </a:r>
          </a:p>
          <a:p>
            <a:r>
              <a:rPr lang="en-US" b="1" dirty="0"/>
              <a:t>Managing Operations</a:t>
            </a:r>
            <a:r>
              <a:rPr lang="en-US" dirty="0"/>
              <a:t> – Ensures all departments work smoothly. </a:t>
            </a:r>
          </a:p>
          <a:p>
            <a:r>
              <a:rPr lang="en-US" b="1" dirty="0"/>
              <a:t>Staff Supervision</a:t>
            </a:r>
            <a:r>
              <a:rPr lang="en-US" dirty="0"/>
              <a:t> – Hires, trains, and manages employees. </a:t>
            </a:r>
          </a:p>
          <a:p>
            <a:r>
              <a:rPr lang="en-US" b="1" dirty="0"/>
              <a:t>Customer Satisfaction</a:t>
            </a:r>
            <a:r>
              <a:rPr lang="en-US" dirty="0"/>
              <a:t> – Makes sure guests have a comfortable and pleasant stay. </a:t>
            </a:r>
          </a:p>
          <a:p>
            <a:r>
              <a:rPr lang="en-US" b="1" dirty="0"/>
              <a:t>Financial Management</a:t>
            </a:r>
            <a:r>
              <a:rPr lang="en-US" dirty="0"/>
              <a:t> – Handles budget, expenses, and revenue. </a:t>
            </a:r>
          </a:p>
          <a:p>
            <a:r>
              <a:rPr lang="en-US" b="1" dirty="0"/>
              <a:t>Problem Solving</a:t>
            </a:r>
            <a:r>
              <a:rPr lang="en-US" dirty="0"/>
              <a:t> – Deals with guest complaints and emergencies. </a:t>
            </a:r>
          </a:p>
          <a:p>
            <a:r>
              <a:rPr lang="en-US" b="1" dirty="0"/>
              <a:t>Maintaining Standards</a:t>
            </a:r>
            <a:r>
              <a:rPr lang="en-US" dirty="0"/>
              <a:t> – Ensures quality service and cleanliness.</a:t>
            </a:r>
          </a:p>
          <a:p>
            <a:endParaRPr lang="en-IN" dirty="0"/>
          </a:p>
        </p:txBody>
      </p:sp>
    </p:spTree>
    <p:extLst>
      <p:ext uri="{BB962C8B-B14F-4D97-AF65-F5344CB8AC3E}">
        <p14:creationId xmlns:p14="http://schemas.microsoft.com/office/powerpoint/2010/main" val="661265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07E635B-EEB2-DDCD-D1D4-EB903FA442C1}"/>
              </a:ext>
            </a:extLst>
          </p:cNvPr>
          <p:cNvPicPr>
            <a:picLocks noChangeAspect="1"/>
          </p:cNvPicPr>
          <p:nvPr/>
        </p:nvPicPr>
        <p:blipFill>
          <a:blip r:embed="rId2">
            <a:alphaModFix amt="40000"/>
          </a:blip>
          <a:srcRect t="4553" b="20447"/>
          <a:stretch>
            <a:fillRect/>
          </a:stretch>
        </p:blipFill>
        <p:spPr>
          <a:xfrm>
            <a:off x="3175" y="0"/>
            <a:ext cx="12192000" cy="6857990"/>
          </a:xfrm>
          <a:prstGeom prst="rect">
            <a:avLst/>
          </a:prstGeom>
        </p:spPr>
      </p:pic>
      <p:sp>
        <p:nvSpPr>
          <p:cNvPr id="2" name="Title 1">
            <a:extLst>
              <a:ext uri="{FF2B5EF4-FFF2-40B4-BE49-F238E27FC236}">
                <a16:creationId xmlns:a16="http://schemas.microsoft.com/office/drawing/2014/main" id="{0D8B2491-68C0-A281-3E8F-65C39379F4B8}"/>
              </a:ext>
            </a:extLst>
          </p:cNvPr>
          <p:cNvSpPr>
            <a:spLocks noGrp="1"/>
          </p:cNvSpPr>
          <p:nvPr>
            <p:ph type="ctrTitle"/>
          </p:nvPr>
        </p:nvSpPr>
        <p:spPr>
          <a:xfrm>
            <a:off x="684212" y="685800"/>
            <a:ext cx="8001000" cy="1019176"/>
          </a:xfrm>
        </p:spPr>
        <p:txBody>
          <a:bodyPr>
            <a:normAutofit/>
          </a:bodyPr>
          <a:lstStyle/>
          <a:p>
            <a:r>
              <a:rPr lang="en-US" dirty="0"/>
              <a:t>implementation</a:t>
            </a:r>
            <a:endParaRPr lang="en-IN" dirty="0"/>
          </a:p>
        </p:txBody>
      </p:sp>
      <p:sp>
        <p:nvSpPr>
          <p:cNvPr id="3" name="Subtitle 2">
            <a:extLst>
              <a:ext uri="{FF2B5EF4-FFF2-40B4-BE49-F238E27FC236}">
                <a16:creationId xmlns:a16="http://schemas.microsoft.com/office/drawing/2014/main" id="{066C007A-7DA7-16BD-A822-CF7C869E9A5E}"/>
              </a:ext>
            </a:extLst>
          </p:cNvPr>
          <p:cNvSpPr>
            <a:spLocks noGrp="1"/>
          </p:cNvSpPr>
          <p:nvPr>
            <p:ph type="subTitle" idx="1"/>
          </p:nvPr>
        </p:nvSpPr>
        <p:spPr>
          <a:xfrm>
            <a:off x="684212" y="1704976"/>
            <a:ext cx="9583738" cy="5962649"/>
          </a:xfrm>
        </p:spPr>
        <p:txBody>
          <a:bodyPr>
            <a:normAutofit fontScale="25000" lnSpcReduction="20000"/>
          </a:bodyPr>
          <a:lstStyle/>
          <a:p>
            <a:pPr>
              <a:lnSpc>
                <a:spcPct val="90000"/>
              </a:lnSpc>
            </a:pPr>
            <a:r>
              <a:rPr lang="en-IN" sz="6400" dirty="0">
                <a:solidFill>
                  <a:schemeClr val="tx1"/>
                </a:solidFill>
              </a:rPr>
              <a:t>#include &lt;</a:t>
            </a:r>
            <a:r>
              <a:rPr lang="en-IN" sz="6400" dirty="0" err="1">
                <a:solidFill>
                  <a:schemeClr val="tx1"/>
                </a:solidFill>
              </a:rPr>
              <a:t>stdio.h</a:t>
            </a:r>
            <a:r>
              <a:rPr lang="en-IN" sz="6400" dirty="0">
                <a:solidFill>
                  <a:schemeClr val="tx1"/>
                </a:solidFill>
              </a:rPr>
              <a:t>&gt;</a:t>
            </a:r>
          </a:p>
          <a:p>
            <a:pPr>
              <a:lnSpc>
                <a:spcPct val="90000"/>
              </a:lnSpc>
            </a:pPr>
            <a:r>
              <a:rPr lang="en-IN" sz="6400" dirty="0">
                <a:solidFill>
                  <a:schemeClr val="tx1"/>
                </a:solidFill>
              </a:rPr>
              <a:t>#include &lt;</a:t>
            </a:r>
            <a:r>
              <a:rPr lang="en-IN" sz="6400" dirty="0" err="1">
                <a:solidFill>
                  <a:schemeClr val="tx1"/>
                </a:solidFill>
              </a:rPr>
              <a:t>string.h</a:t>
            </a:r>
            <a:r>
              <a:rPr lang="en-IN" sz="6400" dirty="0">
                <a:solidFill>
                  <a:schemeClr val="tx1"/>
                </a:solidFill>
              </a:rPr>
              <a:t>&gt;</a:t>
            </a:r>
          </a:p>
          <a:p>
            <a:pPr>
              <a:lnSpc>
                <a:spcPct val="90000"/>
              </a:lnSpc>
            </a:pPr>
            <a:endParaRPr lang="en-IN" sz="6400" dirty="0">
              <a:solidFill>
                <a:schemeClr val="tx1"/>
              </a:solidFill>
            </a:endParaRPr>
          </a:p>
          <a:p>
            <a:pPr>
              <a:lnSpc>
                <a:spcPct val="90000"/>
              </a:lnSpc>
            </a:pPr>
            <a:r>
              <a:rPr lang="en-IN" sz="6400" dirty="0">
                <a:solidFill>
                  <a:schemeClr val="tx1"/>
                </a:solidFill>
              </a:rPr>
              <a:t>int main() {</a:t>
            </a:r>
          </a:p>
          <a:p>
            <a:pPr>
              <a:lnSpc>
                <a:spcPct val="90000"/>
              </a:lnSpc>
            </a:pPr>
            <a:r>
              <a:rPr lang="en-IN" sz="6400" dirty="0">
                <a:solidFill>
                  <a:schemeClr val="tx1"/>
                </a:solidFill>
              </a:rPr>
              <a:t>    char room[3][20] = {"", "", ""};</a:t>
            </a:r>
          </a:p>
          <a:p>
            <a:pPr>
              <a:lnSpc>
                <a:spcPct val="90000"/>
              </a:lnSpc>
            </a:pPr>
            <a:r>
              <a:rPr lang="en-IN" sz="6400" dirty="0">
                <a:solidFill>
                  <a:schemeClr val="tx1"/>
                </a:solidFill>
              </a:rPr>
              <a:t>    int </a:t>
            </a:r>
            <a:r>
              <a:rPr lang="en-IN" sz="6400" dirty="0" err="1">
                <a:solidFill>
                  <a:schemeClr val="tx1"/>
                </a:solidFill>
              </a:rPr>
              <a:t>ch</a:t>
            </a:r>
            <a:r>
              <a:rPr lang="en-IN" sz="6400" dirty="0">
                <a:solidFill>
                  <a:schemeClr val="tx1"/>
                </a:solidFill>
              </a:rPr>
              <a:t>, r;</a:t>
            </a:r>
          </a:p>
          <a:p>
            <a:pPr>
              <a:lnSpc>
                <a:spcPct val="90000"/>
              </a:lnSpc>
            </a:pPr>
            <a:endParaRPr lang="en-IN" sz="6400" dirty="0">
              <a:solidFill>
                <a:schemeClr val="tx1"/>
              </a:solidFill>
            </a:endParaRPr>
          </a:p>
          <a:p>
            <a:pPr>
              <a:lnSpc>
                <a:spcPct val="90000"/>
              </a:lnSpc>
            </a:pPr>
            <a:r>
              <a:rPr lang="en-IN" sz="6400" dirty="0">
                <a:solidFill>
                  <a:schemeClr val="tx1"/>
                </a:solidFill>
              </a:rPr>
              <a:t>    while(1) {</a:t>
            </a:r>
          </a:p>
          <a:p>
            <a:pPr>
              <a:lnSpc>
                <a:spcPct val="90000"/>
              </a:lnSpc>
            </a:pPr>
            <a:r>
              <a:rPr lang="en-IN" sz="6400" dirty="0">
                <a:solidFill>
                  <a:schemeClr val="tx1"/>
                </a:solidFill>
              </a:rPr>
              <a:t>        </a:t>
            </a:r>
            <a:r>
              <a:rPr lang="en-IN" sz="6400" dirty="0" err="1">
                <a:solidFill>
                  <a:schemeClr val="tx1"/>
                </a:solidFill>
              </a:rPr>
              <a:t>printf</a:t>
            </a:r>
            <a:r>
              <a:rPr lang="en-IN" sz="6400" dirty="0">
                <a:solidFill>
                  <a:schemeClr val="tx1"/>
                </a:solidFill>
              </a:rPr>
              <a:t>("\n1.View 2.Book 3.Exit\n");</a:t>
            </a:r>
          </a:p>
          <a:p>
            <a:pPr>
              <a:lnSpc>
                <a:spcPct val="90000"/>
              </a:lnSpc>
            </a:pPr>
            <a:r>
              <a:rPr lang="en-IN" sz="6400" dirty="0">
                <a:solidFill>
                  <a:schemeClr val="tx1"/>
                </a:solidFill>
              </a:rPr>
              <a:t>        </a:t>
            </a:r>
            <a:r>
              <a:rPr lang="en-IN" sz="6400" dirty="0" err="1">
                <a:solidFill>
                  <a:schemeClr val="tx1"/>
                </a:solidFill>
              </a:rPr>
              <a:t>scanf</a:t>
            </a:r>
            <a:r>
              <a:rPr lang="en-IN" sz="6400" dirty="0">
                <a:solidFill>
                  <a:schemeClr val="tx1"/>
                </a:solidFill>
              </a:rPr>
              <a:t>("%d", &amp;</a:t>
            </a:r>
            <a:r>
              <a:rPr lang="en-IN" sz="6400" dirty="0" err="1">
                <a:solidFill>
                  <a:schemeClr val="tx1"/>
                </a:solidFill>
              </a:rPr>
              <a:t>ch</a:t>
            </a:r>
            <a:r>
              <a:rPr lang="en-IN" sz="6400" dirty="0">
                <a:solidFill>
                  <a:schemeClr val="tx1"/>
                </a:solidFill>
              </a:rPr>
              <a:t>);</a:t>
            </a:r>
          </a:p>
          <a:p>
            <a:pPr>
              <a:lnSpc>
                <a:spcPct val="90000"/>
              </a:lnSpc>
            </a:pPr>
            <a:endParaRPr lang="en-IN" sz="6400" dirty="0">
              <a:solidFill>
                <a:schemeClr val="tx1"/>
              </a:solidFill>
            </a:endParaRPr>
          </a:p>
          <a:p>
            <a:pPr>
              <a:lnSpc>
                <a:spcPct val="90000"/>
              </a:lnSpc>
            </a:pPr>
            <a:r>
              <a:rPr lang="en-IN" sz="6400" dirty="0">
                <a:solidFill>
                  <a:schemeClr val="tx1"/>
                </a:solidFill>
              </a:rPr>
              <a:t>        if(</a:t>
            </a:r>
            <a:r>
              <a:rPr lang="en-IN" sz="6400" dirty="0" err="1">
                <a:solidFill>
                  <a:schemeClr val="tx1"/>
                </a:solidFill>
              </a:rPr>
              <a:t>ch</a:t>
            </a:r>
            <a:r>
              <a:rPr lang="en-IN" sz="6400" dirty="0">
                <a:solidFill>
                  <a:schemeClr val="tx1"/>
                </a:solidFill>
              </a:rPr>
              <a:t> == 1) {</a:t>
            </a:r>
          </a:p>
          <a:p>
            <a:pPr>
              <a:lnSpc>
                <a:spcPct val="90000"/>
              </a:lnSpc>
            </a:pPr>
            <a:r>
              <a:rPr lang="en-IN" sz="6400" dirty="0">
                <a:solidFill>
                  <a:schemeClr val="tx1"/>
                </a:solidFill>
              </a:rPr>
              <a:t>            for(int </a:t>
            </a:r>
            <a:r>
              <a:rPr lang="en-IN" sz="6400" dirty="0" err="1">
                <a:solidFill>
                  <a:schemeClr val="tx1"/>
                </a:solidFill>
              </a:rPr>
              <a:t>i</a:t>
            </a:r>
            <a:r>
              <a:rPr lang="en-IN" sz="6400" dirty="0">
                <a:solidFill>
                  <a:schemeClr val="tx1"/>
                </a:solidFill>
              </a:rPr>
              <a:t>=0;i&lt;3;i++)</a:t>
            </a:r>
          </a:p>
          <a:p>
            <a:pPr>
              <a:lnSpc>
                <a:spcPct val="90000"/>
              </a:lnSpc>
            </a:pPr>
            <a:r>
              <a:rPr lang="en-IN" sz="6400" dirty="0">
                <a:solidFill>
                  <a:schemeClr val="tx1"/>
                </a:solidFill>
              </a:rPr>
              <a:t>                </a:t>
            </a:r>
            <a:r>
              <a:rPr lang="en-IN" sz="6400" dirty="0" err="1">
                <a:solidFill>
                  <a:schemeClr val="tx1"/>
                </a:solidFill>
              </a:rPr>
              <a:t>printf</a:t>
            </a:r>
            <a:r>
              <a:rPr lang="en-IN" sz="6400" dirty="0">
                <a:solidFill>
                  <a:schemeClr val="tx1"/>
                </a:solidFill>
              </a:rPr>
              <a:t>("Room %d: %s\n", i+1, </a:t>
            </a:r>
            <a:r>
              <a:rPr lang="en-IN" sz="6400" dirty="0" err="1">
                <a:solidFill>
                  <a:schemeClr val="tx1"/>
                </a:solidFill>
              </a:rPr>
              <a:t>strlen</a:t>
            </a:r>
            <a:r>
              <a:rPr lang="en-IN" sz="6400" dirty="0">
                <a:solidFill>
                  <a:schemeClr val="tx1"/>
                </a:solidFill>
              </a:rPr>
              <a:t>(room[</a:t>
            </a:r>
            <a:r>
              <a:rPr lang="en-IN" sz="6400" dirty="0" err="1">
                <a:solidFill>
                  <a:schemeClr val="tx1"/>
                </a:solidFill>
              </a:rPr>
              <a:t>i</a:t>
            </a:r>
            <a:r>
              <a:rPr lang="en-IN" sz="6400" dirty="0">
                <a:solidFill>
                  <a:schemeClr val="tx1"/>
                </a:solidFill>
              </a:rPr>
              <a:t>]) ? room[</a:t>
            </a:r>
            <a:r>
              <a:rPr lang="en-IN" sz="6400" dirty="0" err="1">
                <a:solidFill>
                  <a:schemeClr val="tx1"/>
                </a:solidFill>
              </a:rPr>
              <a:t>i</a:t>
            </a:r>
            <a:r>
              <a:rPr lang="en-IN" sz="6400" dirty="0">
                <a:solidFill>
                  <a:schemeClr val="tx1"/>
                </a:solidFill>
              </a:rPr>
              <a:t>] : "Empty");</a:t>
            </a:r>
          </a:p>
          <a:p>
            <a:pPr>
              <a:lnSpc>
                <a:spcPct val="90000"/>
              </a:lnSpc>
            </a:pPr>
            <a:r>
              <a:rPr lang="en-IN" sz="6400" dirty="0">
                <a:solidFill>
                  <a:schemeClr val="tx1"/>
                </a:solidFill>
              </a:rPr>
              <a:t>        }</a:t>
            </a:r>
          </a:p>
          <a:p>
            <a:pPr>
              <a:lnSpc>
                <a:spcPct val="90000"/>
              </a:lnSpc>
            </a:pPr>
            <a:r>
              <a:rPr lang="en-IN" sz="6400" dirty="0">
                <a:solidFill>
                  <a:schemeClr val="tx1"/>
                </a:solidFill>
              </a:rPr>
              <a:t>        else if(</a:t>
            </a:r>
            <a:r>
              <a:rPr lang="en-IN" sz="6400" dirty="0" err="1">
                <a:solidFill>
                  <a:schemeClr val="tx1"/>
                </a:solidFill>
              </a:rPr>
              <a:t>ch</a:t>
            </a:r>
            <a:r>
              <a:rPr lang="en-IN" sz="6400" dirty="0">
                <a:solidFill>
                  <a:schemeClr val="tx1"/>
                </a:solidFill>
              </a:rPr>
              <a:t> == 2) {</a:t>
            </a:r>
          </a:p>
          <a:p>
            <a:pPr>
              <a:lnSpc>
                <a:spcPct val="90000"/>
              </a:lnSpc>
            </a:pPr>
            <a:r>
              <a:rPr lang="en-IN" sz="6400" dirty="0">
                <a:solidFill>
                  <a:schemeClr val="tx1"/>
                </a:solidFill>
              </a:rPr>
              <a:t>            </a:t>
            </a:r>
            <a:r>
              <a:rPr lang="en-IN" sz="6400" dirty="0" err="1">
                <a:solidFill>
                  <a:schemeClr val="tx1"/>
                </a:solidFill>
              </a:rPr>
              <a:t>printf</a:t>
            </a:r>
            <a:r>
              <a:rPr lang="en-IN" sz="6400" dirty="0">
                <a:solidFill>
                  <a:schemeClr val="tx1"/>
                </a:solidFill>
              </a:rPr>
              <a:t>("Room no (1-3): ");</a:t>
            </a:r>
          </a:p>
          <a:p>
            <a:pPr>
              <a:lnSpc>
                <a:spcPct val="90000"/>
              </a:lnSpc>
            </a:pPr>
            <a:r>
              <a:rPr lang="en-IN" sz="6400" dirty="0">
                <a:solidFill>
                  <a:schemeClr val="tx1"/>
                </a:solidFill>
              </a:rPr>
              <a:t>            </a:t>
            </a:r>
            <a:r>
              <a:rPr lang="en-IN" sz="6400" dirty="0" err="1">
                <a:solidFill>
                  <a:schemeClr val="tx1"/>
                </a:solidFill>
              </a:rPr>
              <a:t>scanf</a:t>
            </a:r>
            <a:r>
              <a:rPr lang="en-IN" sz="6400" dirty="0">
                <a:solidFill>
                  <a:schemeClr val="tx1"/>
                </a:solidFill>
              </a:rPr>
              <a:t>("%d", &amp;r);</a:t>
            </a:r>
          </a:p>
          <a:p>
            <a:pPr>
              <a:lnSpc>
                <a:spcPct val="90000"/>
              </a:lnSpc>
            </a:pPr>
            <a:r>
              <a:rPr lang="en-IN" sz="6400" dirty="0">
                <a:solidFill>
                  <a:schemeClr val="tx1"/>
                </a:solidFill>
              </a:rPr>
              <a:t>            if(</a:t>
            </a:r>
            <a:r>
              <a:rPr lang="en-IN" sz="6400" dirty="0" err="1">
                <a:solidFill>
                  <a:schemeClr val="tx1"/>
                </a:solidFill>
              </a:rPr>
              <a:t>strlen</a:t>
            </a:r>
            <a:r>
              <a:rPr lang="en-IN" sz="6400" dirty="0">
                <a:solidFill>
                  <a:schemeClr val="tx1"/>
                </a:solidFill>
              </a:rPr>
              <a:t>(room[r-1]) == 0) {</a:t>
            </a:r>
          </a:p>
          <a:p>
            <a:pPr>
              <a:lnSpc>
                <a:spcPct val="90000"/>
              </a:lnSpc>
            </a:pPr>
            <a:r>
              <a:rPr lang="en-IN" sz="6400" dirty="0">
                <a:solidFill>
                  <a:schemeClr val="tx1"/>
                </a:solidFill>
              </a:rPr>
              <a:t>                </a:t>
            </a:r>
            <a:r>
              <a:rPr lang="en-IN" sz="6400" dirty="0" err="1">
                <a:solidFill>
                  <a:schemeClr val="tx1"/>
                </a:solidFill>
              </a:rPr>
              <a:t>printf</a:t>
            </a:r>
            <a:r>
              <a:rPr lang="en-IN" sz="6400" dirty="0">
                <a:solidFill>
                  <a:schemeClr val="tx1"/>
                </a:solidFill>
              </a:rPr>
              <a:t>("Name: ");</a:t>
            </a:r>
          </a:p>
          <a:p>
            <a:pPr>
              <a:lnSpc>
                <a:spcPct val="90000"/>
              </a:lnSpc>
            </a:pPr>
            <a:r>
              <a:rPr lang="en-IN" sz="6400" dirty="0">
                <a:solidFill>
                  <a:schemeClr val="tx1"/>
                </a:solidFill>
              </a:rPr>
              <a:t>                </a:t>
            </a:r>
            <a:r>
              <a:rPr lang="en-IN" sz="6400" dirty="0" err="1">
                <a:solidFill>
                  <a:schemeClr val="tx1"/>
                </a:solidFill>
              </a:rPr>
              <a:t>scanf</a:t>
            </a:r>
            <a:r>
              <a:rPr lang="en-IN" sz="6400" dirty="0">
                <a:solidFill>
                  <a:schemeClr val="tx1"/>
                </a:solidFill>
              </a:rPr>
              <a:t>("%s", room[r-1]);</a:t>
            </a:r>
          </a:p>
          <a:p>
            <a:pPr>
              <a:lnSpc>
                <a:spcPct val="90000"/>
              </a:lnSpc>
            </a:pPr>
            <a:r>
              <a:rPr lang="en-IN" sz="6400" dirty="0">
                <a:solidFill>
                  <a:schemeClr val="tx1"/>
                </a:solidFill>
              </a:rPr>
              <a:t>            } else {</a:t>
            </a:r>
          </a:p>
          <a:p>
            <a:pPr>
              <a:lnSpc>
                <a:spcPct val="90000"/>
              </a:lnSpc>
            </a:pPr>
            <a:r>
              <a:rPr lang="en-IN" sz="6400" dirty="0">
                <a:solidFill>
                  <a:schemeClr val="tx1"/>
                </a:solidFill>
              </a:rPr>
              <a:t>                </a:t>
            </a:r>
            <a:r>
              <a:rPr lang="en-IN" sz="6400" dirty="0" err="1">
                <a:solidFill>
                  <a:schemeClr val="tx1"/>
                </a:solidFill>
              </a:rPr>
              <a:t>printf</a:t>
            </a:r>
            <a:r>
              <a:rPr lang="en-IN" sz="6400" dirty="0">
                <a:solidFill>
                  <a:schemeClr val="tx1"/>
                </a:solidFill>
              </a:rPr>
              <a:t>("Already booked\n");</a:t>
            </a:r>
          </a:p>
          <a:p>
            <a:pPr>
              <a:lnSpc>
                <a:spcPct val="90000"/>
              </a:lnSpc>
            </a:pPr>
            <a:r>
              <a:rPr lang="en-IN" sz="6400" dirty="0">
                <a:solidFill>
                  <a:schemeClr val="tx1"/>
                </a:solidFill>
              </a:rPr>
              <a:t>            }</a:t>
            </a:r>
          </a:p>
          <a:p>
            <a:pPr>
              <a:lnSpc>
                <a:spcPct val="90000"/>
              </a:lnSpc>
            </a:pPr>
            <a:r>
              <a:rPr lang="en-IN" sz="6400" dirty="0">
                <a:solidFill>
                  <a:schemeClr val="tx1"/>
                </a:solidFill>
              </a:rPr>
              <a:t>        }</a:t>
            </a:r>
          </a:p>
          <a:p>
            <a:pPr>
              <a:lnSpc>
                <a:spcPct val="90000"/>
              </a:lnSpc>
            </a:pPr>
            <a:r>
              <a:rPr lang="en-IN" sz="6400" dirty="0">
                <a:solidFill>
                  <a:schemeClr val="tx1"/>
                </a:solidFill>
              </a:rPr>
              <a:t>        else break;</a:t>
            </a:r>
          </a:p>
          <a:p>
            <a:pPr>
              <a:lnSpc>
                <a:spcPct val="90000"/>
              </a:lnSpc>
            </a:pPr>
            <a:r>
              <a:rPr lang="en-IN" sz="6400" dirty="0">
                <a:solidFill>
                  <a:schemeClr val="tx1"/>
                </a:solidFill>
              </a:rPr>
              <a:t>    }</a:t>
            </a:r>
          </a:p>
          <a:p>
            <a:pPr>
              <a:lnSpc>
                <a:spcPct val="90000"/>
              </a:lnSpc>
            </a:pPr>
            <a:r>
              <a:rPr lang="en-IN" sz="6400" dirty="0">
                <a:solidFill>
                  <a:schemeClr val="tx1"/>
                </a:solidFill>
              </a:rPr>
              <a:t>    return 0;</a:t>
            </a:r>
          </a:p>
          <a:p>
            <a:pPr>
              <a:lnSpc>
                <a:spcPct val="90000"/>
              </a:lnSpc>
            </a:pPr>
            <a:r>
              <a:rPr lang="en-IN" sz="500" dirty="0">
                <a:solidFill>
                  <a:schemeClr val="tx1"/>
                </a:solidFill>
              </a:rPr>
              <a:t>}</a:t>
            </a:r>
          </a:p>
        </p:txBody>
      </p:sp>
    </p:spTree>
    <p:extLst>
      <p:ext uri="{BB962C8B-B14F-4D97-AF65-F5344CB8AC3E}">
        <p14:creationId xmlns:p14="http://schemas.microsoft.com/office/powerpoint/2010/main" val="2652743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8AE1A4-0197-C1F1-8E93-4DEF71B1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4259" y="1671392"/>
            <a:ext cx="5963482" cy="3515216"/>
          </a:xfrm>
          <a:prstGeom prst="rect">
            <a:avLst/>
          </a:prstGeom>
        </p:spPr>
      </p:pic>
    </p:spTree>
    <p:extLst>
      <p:ext uri="{BB962C8B-B14F-4D97-AF65-F5344CB8AC3E}">
        <p14:creationId xmlns:p14="http://schemas.microsoft.com/office/powerpoint/2010/main" val="202640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3628F-2F66-101A-A313-240C065CD12E}"/>
              </a:ext>
            </a:extLst>
          </p:cNvPr>
          <p:cNvSpPr>
            <a:spLocks noGrp="1"/>
          </p:cNvSpPr>
          <p:nvPr>
            <p:ph type="ctrTitle"/>
          </p:nvPr>
        </p:nvSpPr>
        <p:spPr/>
        <p:txBody>
          <a:bodyPr/>
          <a:lstStyle/>
          <a:p>
            <a:r>
              <a:rPr lang="en-IN" dirty="0"/>
              <a:t>Customer Service in Hotels</a:t>
            </a:r>
          </a:p>
        </p:txBody>
      </p:sp>
      <p:sp>
        <p:nvSpPr>
          <p:cNvPr id="3" name="Subtitle 2">
            <a:extLst>
              <a:ext uri="{FF2B5EF4-FFF2-40B4-BE49-F238E27FC236}">
                <a16:creationId xmlns:a16="http://schemas.microsoft.com/office/drawing/2014/main" id="{F5BD1851-6CFE-12E5-078C-B326F5296914}"/>
              </a:ext>
            </a:extLst>
          </p:cNvPr>
          <p:cNvSpPr>
            <a:spLocks noGrp="1"/>
          </p:cNvSpPr>
          <p:nvPr>
            <p:ph type="subTitle" idx="1"/>
          </p:nvPr>
        </p:nvSpPr>
        <p:spPr/>
        <p:txBody>
          <a:bodyPr>
            <a:normAutofit fontScale="55000" lnSpcReduction="20000"/>
          </a:bodyPr>
          <a:lstStyle/>
          <a:p>
            <a:r>
              <a:rPr lang="en-US" dirty="0"/>
              <a:t>Customer service is one of the most important parts of the Hospitality Management industry. It focuses on making guests feel welcome, comfortable, and satisfied during their stay.</a:t>
            </a:r>
          </a:p>
          <a:p>
            <a:r>
              <a:rPr lang="en-US" b="1" dirty="0"/>
              <a:t>Guest Satisfaction</a:t>
            </a:r>
            <a:r>
              <a:rPr lang="en-US" dirty="0"/>
              <a:t> – Providing friendly and helpful service to meet guest needs. </a:t>
            </a:r>
          </a:p>
          <a:p>
            <a:r>
              <a:rPr lang="en-US" b="1" dirty="0"/>
              <a:t>Communication Skills</a:t>
            </a:r>
            <a:r>
              <a:rPr lang="en-US" dirty="0"/>
              <a:t> – Listening carefully and responding politely to guests. </a:t>
            </a:r>
          </a:p>
          <a:p>
            <a:r>
              <a:rPr lang="en-US" b="1" dirty="0"/>
              <a:t>Handling Complaints</a:t>
            </a:r>
            <a:r>
              <a:rPr lang="en-US" dirty="0"/>
              <a:t> – Solving problems quickly and professionally. </a:t>
            </a:r>
          </a:p>
          <a:p>
            <a:r>
              <a:rPr lang="en-US" b="1" dirty="0"/>
              <a:t>Personalized Service</a:t>
            </a:r>
            <a:r>
              <a:rPr lang="en-US" dirty="0"/>
              <a:t> – Understanding guest preferences and giving special attention.</a:t>
            </a:r>
          </a:p>
          <a:p>
            <a:endParaRPr lang="en-IN" dirty="0"/>
          </a:p>
        </p:txBody>
      </p:sp>
    </p:spTree>
    <p:extLst>
      <p:ext uri="{BB962C8B-B14F-4D97-AF65-F5344CB8AC3E}">
        <p14:creationId xmlns:p14="http://schemas.microsoft.com/office/powerpoint/2010/main" val="1248717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8F056-CEAD-6AF8-0E51-ED57298D62A3}"/>
              </a:ext>
            </a:extLst>
          </p:cNvPr>
          <p:cNvSpPr>
            <a:spLocks noGrp="1"/>
          </p:cNvSpPr>
          <p:nvPr>
            <p:ph type="ctrTitle"/>
          </p:nvPr>
        </p:nvSpPr>
        <p:spPr/>
        <p:txBody>
          <a:bodyPr/>
          <a:lstStyle/>
          <a:p>
            <a:r>
              <a:rPr lang="en-IN" dirty="0"/>
              <a:t>Technology in Hotel Management</a:t>
            </a:r>
          </a:p>
        </p:txBody>
      </p:sp>
      <p:sp>
        <p:nvSpPr>
          <p:cNvPr id="3" name="Subtitle 2">
            <a:extLst>
              <a:ext uri="{FF2B5EF4-FFF2-40B4-BE49-F238E27FC236}">
                <a16:creationId xmlns:a16="http://schemas.microsoft.com/office/drawing/2014/main" id="{2E9F3FF2-02CB-910B-B577-24E41DEB0C08}"/>
              </a:ext>
            </a:extLst>
          </p:cNvPr>
          <p:cNvSpPr>
            <a:spLocks noGrp="1"/>
          </p:cNvSpPr>
          <p:nvPr>
            <p:ph type="subTitle" idx="1"/>
          </p:nvPr>
        </p:nvSpPr>
        <p:spPr/>
        <p:txBody>
          <a:bodyPr>
            <a:normAutofit fontScale="47500" lnSpcReduction="20000"/>
          </a:bodyPr>
          <a:lstStyle/>
          <a:p>
            <a:r>
              <a:rPr lang="en-US" dirty="0"/>
              <a:t>Technology plays an important role in improving efficiency and guest experience in the Hospitality Management industry. Hotels use modern tools to manage operations smoothly.</a:t>
            </a:r>
          </a:p>
          <a:p>
            <a:r>
              <a:rPr lang="en-US" b="1" dirty="0"/>
              <a:t>Online Booking Systems</a:t>
            </a:r>
            <a:r>
              <a:rPr lang="en-US" dirty="0"/>
              <a:t> – Allow guests to book rooms easily through websites and apps. </a:t>
            </a:r>
          </a:p>
          <a:p>
            <a:r>
              <a:rPr lang="en-US" b="1" dirty="0"/>
              <a:t>Property Management Systems (PMS)</a:t>
            </a:r>
            <a:r>
              <a:rPr lang="en-US" dirty="0"/>
              <a:t> – Help manage reservations, billing, and guest records. </a:t>
            </a:r>
          </a:p>
          <a:p>
            <a:r>
              <a:rPr lang="en-US" b="1" dirty="0"/>
              <a:t>Mobile Apps</a:t>
            </a:r>
            <a:r>
              <a:rPr lang="en-US" dirty="0"/>
              <a:t> – Provide services like online check-in, room service, and customer support. </a:t>
            </a:r>
          </a:p>
          <a:p>
            <a:r>
              <a:rPr lang="en-US" b="1" dirty="0"/>
              <a:t>Smart Rooms</a:t>
            </a:r>
            <a:r>
              <a:rPr lang="en-US" dirty="0"/>
              <a:t> – Use automation for lighting, temperature, and security.</a:t>
            </a:r>
          </a:p>
          <a:p>
            <a:endParaRPr lang="en-IN" dirty="0"/>
          </a:p>
        </p:txBody>
      </p:sp>
    </p:spTree>
    <p:extLst>
      <p:ext uri="{BB962C8B-B14F-4D97-AF65-F5344CB8AC3E}">
        <p14:creationId xmlns:p14="http://schemas.microsoft.com/office/powerpoint/2010/main" val="2720782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D7EDA-649C-48AF-086A-756A420125F3}"/>
              </a:ext>
            </a:extLst>
          </p:cNvPr>
          <p:cNvSpPr>
            <a:spLocks noGrp="1"/>
          </p:cNvSpPr>
          <p:nvPr>
            <p:ph type="ctrTitle"/>
          </p:nvPr>
        </p:nvSpPr>
        <p:spPr/>
        <p:txBody>
          <a:bodyPr>
            <a:normAutofit fontScale="90000"/>
          </a:bodyPr>
          <a:lstStyle/>
          <a:p>
            <a:br>
              <a:rPr lang="en-IN" b="1" dirty="0"/>
            </a:br>
            <a:br>
              <a:rPr lang="en-IN" b="1" dirty="0"/>
            </a:br>
            <a:br>
              <a:rPr lang="en-IN" b="1" dirty="0"/>
            </a:br>
            <a:r>
              <a:rPr lang="en-IN" b="1" dirty="0"/>
              <a:t>Challenges in Hotel Management</a:t>
            </a:r>
            <a:br>
              <a:rPr lang="en-IN" dirty="0"/>
            </a:br>
            <a:endParaRPr lang="en-IN" dirty="0"/>
          </a:p>
        </p:txBody>
      </p:sp>
      <p:sp>
        <p:nvSpPr>
          <p:cNvPr id="3" name="Subtitle 2">
            <a:extLst>
              <a:ext uri="{FF2B5EF4-FFF2-40B4-BE49-F238E27FC236}">
                <a16:creationId xmlns:a16="http://schemas.microsoft.com/office/drawing/2014/main" id="{CF72CADF-339D-0086-9296-867FD0A30C9D}"/>
              </a:ext>
            </a:extLst>
          </p:cNvPr>
          <p:cNvSpPr>
            <a:spLocks noGrp="1"/>
          </p:cNvSpPr>
          <p:nvPr>
            <p:ph type="subTitle" idx="1"/>
          </p:nvPr>
        </p:nvSpPr>
        <p:spPr/>
        <p:txBody>
          <a:bodyPr>
            <a:normAutofit fontScale="62500" lnSpcReduction="20000"/>
          </a:bodyPr>
          <a:lstStyle/>
          <a:p>
            <a:r>
              <a:rPr lang="en-US" dirty="0"/>
              <a:t>Hotel management faces several challenges in the Hospitality Management industry. Managers need to handle these issues to ensure smooth operations.</a:t>
            </a:r>
          </a:p>
          <a:p>
            <a:r>
              <a:rPr lang="en-US" b="1" dirty="0"/>
              <a:t>High Competition</a:t>
            </a:r>
            <a:r>
              <a:rPr lang="en-US" dirty="0"/>
              <a:t> – Many hotels compete for the same customers. </a:t>
            </a:r>
          </a:p>
          <a:p>
            <a:r>
              <a:rPr lang="en-US" b="1" dirty="0"/>
              <a:t>Maintaining Quality</a:t>
            </a:r>
            <a:r>
              <a:rPr lang="en-US" dirty="0"/>
              <a:t> – Consistently providing good service can be difficult. </a:t>
            </a:r>
          </a:p>
          <a:p>
            <a:r>
              <a:rPr lang="en-US" b="1" dirty="0"/>
              <a:t>Staff Management</a:t>
            </a:r>
            <a:r>
              <a:rPr lang="en-US" dirty="0"/>
              <a:t> – Hiring, training, and retaining skilled employees. </a:t>
            </a:r>
          </a:p>
          <a:p>
            <a:r>
              <a:rPr lang="en-US" b="1" dirty="0"/>
              <a:t>Customer Expectations</a:t>
            </a:r>
            <a:r>
              <a:rPr lang="en-US" dirty="0"/>
              <a:t> – Guests expect high-quality and quick service. </a:t>
            </a:r>
          </a:p>
          <a:p>
            <a:r>
              <a:rPr lang="en-US" b="1" dirty="0"/>
              <a:t>Cost Control</a:t>
            </a:r>
            <a:r>
              <a:rPr lang="en-US" dirty="0"/>
              <a:t> – Managing expenses while maintaining profit.</a:t>
            </a:r>
          </a:p>
          <a:p>
            <a:endParaRPr lang="en-IN" dirty="0"/>
          </a:p>
        </p:txBody>
      </p:sp>
    </p:spTree>
    <p:extLst>
      <p:ext uri="{BB962C8B-B14F-4D97-AF65-F5344CB8AC3E}">
        <p14:creationId xmlns:p14="http://schemas.microsoft.com/office/powerpoint/2010/main" val="3551436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3DF78-C113-5B66-DE9A-30FAED00FB64}"/>
              </a:ext>
            </a:extLst>
          </p:cNvPr>
          <p:cNvSpPr>
            <a:spLocks noGrp="1"/>
          </p:cNvSpPr>
          <p:nvPr>
            <p:ph type="ctrTitle"/>
          </p:nvPr>
        </p:nvSpPr>
        <p:spPr/>
        <p:txBody>
          <a:bodyPr/>
          <a:lstStyle/>
          <a:p>
            <a:r>
              <a:rPr lang="en-IN" dirty="0"/>
              <a:t>Future Trends</a:t>
            </a:r>
          </a:p>
        </p:txBody>
      </p:sp>
      <p:sp>
        <p:nvSpPr>
          <p:cNvPr id="3" name="Subtitle 2">
            <a:extLst>
              <a:ext uri="{FF2B5EF4-FFF2-40B4-BE49-F238E27FC236}">
                <a16:creationId xmlns:a16="http://schemas.microsoft.com/office/drawing/2014/main" id="{53DF0FB3-9728-07FE-A225-30259D042F33}"/>
              </a:ext>
            </a:extLst>
          </p:cNvPr>
          <p:cNvSpPr>
            <a:spLocks noGrp="1"/>
          </p:cNvSpPr>
          <p:nvPr>
            <p:ph type="subTitle" idx="1"/>
          </p:nvPr>
        </p:nvSpPr>
        <p:spPr/>
        <p:txBody>
          <a:bodyPr>
            <a:normAutofit fontScale="40000" lnSpcReduction="20000"/>
          </a:bodyPr>
          <a:lstStyle/>
          <a:p>
            <a:r>
              <a:rPr lang="en-US" dirty="0"/>
              <a:t>The Hospitality Management industry is rapidly evolving with new trends shaping its future. Some important trends are:</a:t>
            </a:r>
          </a:p>
          <a:p>
            <a:r>
              <a:rPr lang="en-US" b="1" dirty="0"/>
              <a:t>Use of Artificial Intelligence (AI)</a:t>
            </a:r>
            <a:r>
              <a:rPr lang="en-US" dirty="0"/>
              <a:t> – Hotels are using AI for pricing, customer service, and personalized experiences. </a:t>
            </a:r>
          </a:p>
          <a:p>
            <a:r>
              <a:rPr lang="en-US" b="1" dirty="0"/>
              <a:t>Smart &amp; Contactless Technology</a:t>
            </a:r>
            <a:r>
              <a:rPr lang="en-US" dirty="0"/>
              <a:t> – Mobile check-ins, digital keys, and smart rooms are becoming common. </a:t>
            </a:r>
          </a:p>
          <a:p>
            <a:r>
              <a:rPr lang="en-US" b="1" dirty="0"/>
              <a:t>Sustainability (Eco-friendly Hotels)</a:t>
            </a:r>
            <a:r>
              <a:rPr lang="en-US" dirty="0"/>
              <a:t> – Hotels are focusing on energy saving, waste reduction, and green practices. </a:t>
            </a:r>
          </a:p>
          <a:p>
            <a:r>
              <a:rPr lang="en-US" b="1" dirty="0"/>
              <a:t>Personalized Guest Experience</a:t>
            </a:r>
            <a:r>
              <a:rPr lang="en-US" dirty="0"/>
              <a:t> – Services are customized based on guest preferences using data and technology. </a:t>
            </a:r>
          </a:p>
          <a:p>
            <a:r>
              <a:rPr lang="en-US" b="1" dirty="0"/>
              <a:t>Wellness &amp; Lifestyle Focus</a:t>
            </a:r>
            <a:r>
              <a:rPr lang="en-US" dirty="0"/>
              <a:t> – Hotels are offering spa, fitness, and wellness programs for better guest experience. </a:t>
            </a:r>
          </a:p>
          <a:p>
            <a:endParaRPr lang="en-IN" dirty="0"/>
          </a:p>
        </p:txBody>
      </p:sp>
    </p:spTree>
    <p:extLst>
      <p:ext uri="{BB962C8B-B14F-4D97-AF65-F5344CB8AC3E}">
        <p14:creationId xmlns:p14="http://schemas.microsoft.com/office/powerpoint/2010/main" val="3980140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718D7-5E4F-DF8C-1A5D-B24CE624B6E5}"/>
              </a:ext>
            </a:extLst>
          </p:cNvPr>
          <p:cNvSpPr>
            <a:spLocks noGrp="1"/>
          </p:cNvSpPr>
          <p:nvPr>
            <p:ph type="ctrTitle"/>
          </p:nvPr>
        </p:nvSpPr>
        <p:spPr/>
        <p:txBody>
          <a:bodyPr/>
          <a:lstStyle/>
          <a:p>
            <a:r>
              <a:rPr lang="en-IN" dirty="0"/>
              <a:t>Conclusion</a:t>
            </a:r>
          </a:p>
        </p:txBody>
      </p:sp>
      <p:sp>
        <p:nvSpPr>
          <p:cNvPr id="3" name="Subtitle 2">
            <a:extLst>
              <a:ext uri="{FF2B5EF4-FFF2-40B4-BE49-F238E27FC236}">
                <a16:creationId xmlns:a16="http://schemas.microsoft.com/office/drawing/2014/main" id="{3105947D-F79D-3512-6D86-080B4108C9B3}"/>
              </a:ext>
            </a:extLst>
          </p:cNvPr>
          <p:cNvSpPr>
            <a:spLocks noGrp="1"/>
          </p:cNvSpPr>
          <p:nvPr>
            <p:ph type="subTitle" idx="1"/>
          </p:nvPr>
        </p:nvSpPr>
        <p:spPr/>
        <p:txBody>
          <a:bodyPr>
            <a:normAutofit fontScale="70000" lnSpcReduction="20000"/>
          </a:bodyPr>
          <a:lstStyle/>
          <a:p>
            <a:r>
              <a:rPr lang="en-US" dirty="0"/>
              <a:t>Hotel management is a key part of the Hospitality Management industry that ensures smooth hotel operations and high-quality guest services. It plays an important role in providing comfort, satisfaction, and a memorable experience to customers.</a:t>
            </a:r>
          </a:p>
          <a:p>
            <a:r>
              <a:rPr lang="en-US" dirty="0"/>
              <a:t>A well-managed hotel helps in building a strong reputation, increasing customer loyalty, and supporting tourism and the economy. With the use of modern technology and new trends, the future of hotel management is becoming more efficient and customer-friendly.</a:t>
            </a:r>
          </a:p>
          <a:p>
            <a:endParaRPr lang="en-IN" dirty="0"/>
          </a:p>
        </p:txBody>
      </p:sp>
    </p:spTree>
    <p:extLst>
      <p:ext uri="{BB962C8B-B14F-4D97-AF65-F5344CB8AC3E}">
        <p14:creationId xmlns:p14="http://schemas.microsoft.com/office/powerpoint/2010/main" val="3170393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039A6-CDB2-B1DA-0B17-22485838D211}"/>
              </a:ext>
            </a:extLst>
          </p:cNvPr>
          <p:cNvSpPr>
            <a:spLocks noGrp="1"/>
          </p:cNvSpPr>
          <p:nvPr>
            <p:ph type="title"/>
          </p:nvPr>
        </p:nvSpPr>
        <p:spPr>
          <a:xfrm>
            <a:off x="838200" y="3666744"/>
            <a:ext cx="10515600" cy="2249424"/>
          </a:xfrm>
        </p:spPr>
        <p:txBody>
          <a:bodyPr/>
          <a:lstStyle/>
          <a:p>
            <a:pPr algn="ctr"/>
            <a:r>
              <a:rPr lang="en-IN" dirty="0"/>
              <a:t>Thank You</a:t>
            </a:r>
          </a:p>
        </p:txBody>
      </p:sp>
    </p:spTree>
    <p:extLst>
      <p:ext uri="{BB962C8B-B14F-4D97-AF65-F5344CB8AC3E}">
        <p14:creationId xmlns:p14="http://schemas.microsoft.com/office/powerpoint/2010/main" val="1682986232"/>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53</TotalTime>
  <Words>1063</Words>
  <Application>Microsoft Office PowerPoint</Application>
  <PresentationFormat>Widescreen</PresentationFormat>
  <Paragraphs>104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Wingdings 3</vt:lpstr>
      <vt:lpstr>Slice</vt:lpstr>
      <vt:lpstr>              HOTEL MANAGEMENT SYSTEM</vt:lpstr>
      <vt:lpstr>PowerPoint Presentation</vt:lpstr>
      <vt:lpstr>Introduction </vt:lpstr>
      <vt:lpstr>Overview of the Hospitality Industry</vt:lpstr>
      <vt:lpstr>Key Departments in a Hotel</vt:lpstr>
      <vt:lpstr>Roles of a Hotel Manager</vt:lpstr>
      <vt:lpstr>implementation</vt:lpstr>
      <vt:lpstr>PowerPoint Presentation</vt:lpstr>
      <vt:lpstr>Customer Service in Hotels</vt:lpstr>
      <vt:lpstr>Technology in Hotel Management</vt:lpstr>
      <vt:lpstr>   Challenges in Hotel Management </vt:lpstr>
      <vt:lpstr>Future Trends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DELLPC</dc:creator>
  <cp:lastModifiedBy>DELLPC</cp:lastModifiedBy>
  <cp:revision>2</cp:revision>
  <dcterms:created xsi:type="dcterms:W3CDTF">2026-04-22T07:43:20Z</dcterms:created>
  <dcterms:modified xsi:type="dcterms:W3CDTF">2026-04-23T08:02:17Z</dcterms:modified>
</cp:coreProperties>
</file>